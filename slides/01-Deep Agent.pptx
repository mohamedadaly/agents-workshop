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63241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93801"/>
            <a:ext cx="10566400" cy="4051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63241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93801"/>
            <a:ext cx="10566400" cy="4051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5599"/>
            <a:ext cx="17984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SETUP GUIDE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98440"/>
            <a:ext cx="790241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Workshop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705820"/>
            <a:ext cx="34164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Agent in 10 minutes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5975" y="4318595"/>
            <a:ext cx="711002" cy="44063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60327" y="4318595"/>
            <a:ext cx="1009154" cy="44063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Ollama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02830" y="4318595"/>
            <a:ext cx="611584" cy="44063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47765" y="4318595"/>
            <a:ext cx="1307405" cy="44063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Streamlit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8520" y="4318595"/>
            <a:ext cx="1009154" cy="44063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MLflow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0569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steps · about 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1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Git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85491"/>
            <a:ext cx="18313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7175" y="2047776"/>
            <a:ext cx="8578850" cy="559991"/>
          </a:xfrm>
          <a:prstGeom prst="roundRect">
            <a:avLst>
              <a:gd name="adj" fmla="val 1304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184987" tIns="134187" rIns="0" bIns="108787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brew install git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904232"/>
            <a:ext cx="18313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97175" y="2766516"/>
            <a:ext cx="8578850" cy="559991"/>
          </a:xfrm>
          <a:prstGeom prst="roundRect">
            <a:avLst>
              <a:gd name="adj" fmla="val 1304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184987" tIns="134187" rIns="0" bIns="108787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git-scm.com/downloads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622973"/>
            <a:ext cx="18313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97175" y="3485257"/>
            <a:ext cx="8578850" cy="559991"/>
          </a:xfrm>
          <a:prstGeom prst="roundRect">
            <a:avLst>
              <a:gd name="adj" fmla="val 1304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184987" tIns="134187" rIns="0" bIns="108787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sudo apt install git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80799" y="6238280"/>
            <a:ext cx="8380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Repository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7776"/>
            <a:ext cx="10560050" cy="1347391"/>
          </a:xfrm>
          <a:prstGeom prst="roundRect">
            <a:avLst>
              <a:gd name="adj" fmla="val 7305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2355751"/>
            <a:ext cx="1013777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git clone https://github.com/mohamedadaly/agents-workshop.git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4750" y="2784971"/>
            <a:ext cx="10137775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cd agents-workshop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1650" y="6238280"/>
            <a:ext cx="86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3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 Editor (or Skip It)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7776"/>
            <a:ext cx="5149850" cy="3791049"/>
          </a:xfrm>
          <a:prstGeom prst="roundRect">
            <a:avLst>
              <a:gd name="adj" fmla="val 2596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355751"/>
            <a:ext cx="46699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(recommended)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2756991"/>
            <a:ext cx="46699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from code.visualstudio.com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3950" y="3132832"/>
            <a:ext cx="46699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code 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26175" y="2047776"/>
            <a:ext cx="5149850" cy="3791049"/>
          </a:xfrm>
          <a:prstGeom prst="roundRect">
            <a:avLst>
              <a:gd name="adj" fmla="val 2596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4150" y="2355751"/>
            <a:ext cx="46699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only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4150" y="2756991"/>
            <a:ext cx="46699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editor required — every step here runs from a terminal.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57780" y="6238280"/>
            <a:ext cx="8657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4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Ollama &amp; Pull 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94421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78175" y="2047776"/>
            <a:ext cx="8197850" cy="559991"/>
          </a:xfrm>
          <a:prstGeom prst="roundRect">
            <a:avLst>
              <a:gd name="adj" fmla="val 1304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184987" tIns="134187" rIns="0" bIns="108787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ollama.com/download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913162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78175" y="2766516"/>
            <a:ext cx="8197850" cy="559991"/>
          </a:xfrm>
          <a:prstGeom prst="roundRect">
            <a:avLst>
              <a:gd name="adj" fmla="val 1304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184987" tIns="134187" rIns="0" bIns="108787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ollama pull qwen3.5:4b-mlx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6852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Ollama is running — it starts automatically after install, or run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serve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55697" y="6238280"/>
            <a:ext cx="8682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uv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75" y="2047776"/>
            <a:ext cx="10560050" cy="900410"/>
          </a:xfrm>
          <a:prstGeom prst="roundRect">
            <a:avLst>
              <a:gd name="adj" fmla="val 10931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329947" tIns="279147" rIns="34672" bIns="253747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curl -LsSf https://astral.sh/uv/install.sh | 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30696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see docs.astral.sh/uv/getting-started/installation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58872" y="6238280"/>
            <a:ext cx="8643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Project Dependencies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75" y="2047776"/>
            <a:ext cx="10560050" cy="918170"/>
          </a:xfrm>
          <a:prstGeom prst="roundRect">
            <a:avLst>
              <a:gd name="adj" fmla="val 1072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329947" tIns="279147" rIns="34672" bIns="253747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sync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32472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uv.lock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creates a local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.venv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everything installed: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5975" y="3950196"/>
            <a:ext cx="1187748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streamlit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11673" y="3950196"/>
            <a:ext cx="912515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gradio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32138" y="3950196"/>
            <a:ext cx="1279525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deepagents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19613" y="3950196"/>
            <a:ext cx="1829991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langchain-ollama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7553" y="3950196"/>
            <a:ext cx="2105323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langchain-community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70826" y="3950196"/>
            <a:ext cx="912515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mlflow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91291" y="3950196"/>
            <a:ext cx="728960" cy="39747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ddgs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54407" y="6238280"/>
            <a:ext cx="869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7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96976"/>
            <a:ext cx="10560050" cy="1101030"/>
          </a:xfrm>
          <a:prstGeom prst="roundRect">
            <a:avLst>
              <a:gd name="adj" fmla="val 8939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254151"/>
            <a:ext cx="1024242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F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Streamlit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23950" y="2574131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streamlit run 01_deep_agent_streamlit.py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75" y="3231356"/>
            <a:ext cx="10560050" cy="1101030"/>
          </a:xfrm>
          <a:prstGeom prst="roundRect">
            <a:avLst>
              <a:gd name="adj" fmla="val 8939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3950" y="3488531"/>
            <a:ext cx="1024242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F6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3950" y="3808512"/>
            <a:ext cx="102424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01_deep_agent_gradio.py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640362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agent, two UIs — either opens in your browser. Pick a model, confirm the database URI (defaults to </a:t>
            </a:r>
            <a:r>
              <a:rPr lang="en-US" sz="14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data/Chinook.db</a:t>
            </a: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then click </a:t>
            </a:r>
            <a:r>
              <a:rPr lang="en-US" sz="14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chatting.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5023" y="6238280"/>
            <a:ext cx="8570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8 · OPTIONAL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MLflow Traces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446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you ask is traced automatically. In a separate terminal: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75" y="2670076"/>
            <a:ext cx="10560050" cy="882650"/>
          </a:xfrm>
          <a:prstGeom prst="roundRect">
            <a:avLst>
              <a:gd name="adj" fmla="val 11151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square" lIns="329947" tIns="279147" rIns="34672" bIns="253747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mlflow ui --backend-store-uri sqlite:///data/mlflow.db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9115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open the URL it prints — typically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2435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setup guide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56491" y="6238280"/>
            <a:ext cx="8672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of 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7229"/>
            <a:ext cx="244066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CODE WALKTHROUGH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20070"/>
            <a:ext cx="7850981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the Agent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600450"/>
            <a:ext cx="521624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pieces, wired together in </a:t>
            </a:r>
            <a:r>
              <a:rPr lang="en-US" sz="1800" b="1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build_agent()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5975" y="4177605"/>
            <a:ext cx="998835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44985" y="431532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61791" y="4177605"/>
            <a:ext cx="998835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90801" y="431532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7606" y="4177605"/>
            <a:ext cx="1105892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43673" y="431532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60479" y="4177605"/>
            <a:ext cx="1105892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Memory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6546" y="4315321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3352" y="4177605"/>
            <a:ext cx="998835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F2B54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· MODEL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Ollama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7776"/>
            <a:ext cx="10560050" cy="2533650"/>
          </a:xfrm>
          <a:prstGeom prst="roundRect">
            <a:avLst>
              <a:gd name="adj" fmla="val 3885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23557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llm = ChatOllama(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4750" y="26859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model=model,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4750" y="30161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base_url=base_url,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4750" y="33463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validate_model_on_init=True,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4750" y="36765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temperature=0,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4750" y="40067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940201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Picked in the sidebar at connect time.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temperature=0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SQL generation deterministic;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validate_model_on_init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fails fast if the model isn’t pulled yet.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16655" y="6238280"/>
            <a:ext cx="4350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 · TOOLS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7776"/>
            <a:ext cx="10560050" cy="1543050"/>
          </a:xfrm>
          <a:prstGeom prst="roundRect">
            <a:avLst>
              <a:gd name="adj" fmla="val 6379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23557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db = SQLDatabase.from_uri(db_uri)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4750" y="26859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tools = SQLDatabaseToolkit(db=db, llm=llm).get_tools()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4750" y="30161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+ [DuckDuckGoSearchRun()]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9496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toolkit, plus one web-search tool, hands the agent five tools: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975" y="4346476"/>
            <a:ext cx="1825129" cy="37971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sql_db_list_tables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6354" y="4346476"/>
            <a:ext cx="1404541" cy="37971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sql_db_schema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36145" y="4346476"/>
            <a:ext cx="1993305" cy="37971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sql_db_query_checker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4699" y="4346476"/>
            <a:ext cx="1320502" cy="37971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sql_db_query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40452" y="4346476"/>
            <a:ext cx="1740991" cy="37971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F2B54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duckduckgo_search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97505" y="6238280"/>
            <a:ext cx="4580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 · SYSTEM PROMPT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the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9380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as </a:t>
            </a:r>
            <a:r>
              <a:rPr lang="en-US" sz="14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system_prompt=INSTRUCTIONS</a:t>
            </a: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four rules keep the ReAct loop safe and on-task: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550616"/>
            <a:ext cx="5175250" cy="1488480"/>
          </a:xfrm>
          <a:prstGeom prst="roundRect">
            <a:avLst>
              <a:gd name="adj" fmla="val 6612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80779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before you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153172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table names with </a:t>
            </a:r>
            <a:r>
              <a:rPr lang="en-US" sz="13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sql_db_list_tables</a:t>
            </a: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inspect schemas with </a:t>
            </a:r>
            <a:r>
              <a:rPr lang="en-US" sz="13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sql_db_schema</a:t>
            </a: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2550616"/>
            <a:ext cx="5175250" cy="1488480"/>
          </a:xfrm>
          <a:prstGeom prst="roundRect">
            <a:avLst>
              <a:gd name="adj" fmla="val 6612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80779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you run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7950" y="3153172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non-trivial queries through </a:t>
            </a:r>
            <a:r>
              <a:rPr lang="en-US" sz="13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sql_db_query_checker</a:t>
            </a: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</a:t>
            </a:r>
            <a:r>
              <a:rPr lang="en-US" sz="13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sql_db_query</a:t>
            </a: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4350246"/>
            <a:ext cx="5175250" cy="1488579"/>
          </a:xfrm>
          <a:prstGeom prst="roundRect">
            <a:avLst>
              <a:gd name="adj" fmla="val 6612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3150" y="460742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Read-only, always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3150" y="4952802"/>
            <a:ext cx="48007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INSERT, UPDATE, DELETE, DROP — ever.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00775" y="4350246"/>
            <a:ext cx="5175250" cy="1488579"/>
          </a:xfrm>
          <a:prstGeom prst="roundRect">
            <a:avLst>
              <a:gd name="adj" fmla="val 6612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7950" y="460742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multi-step 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7950" y="4952802"/>
            <a:ext cx="48007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agent’s built-in todo list before a multi-step question.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93636" y="6238280"/>
            <a:ext cx="462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 · SYSTEM PROMPT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Prompt, Verbatim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46176"/>
            <a:ext cx="10560050" cy="3470473"/>
          </a:xfrm>
          <a:prstGeom prst="roundRect">
            <a:avLst>
              <a:gd name="adj" fmla="val 2836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2203351"/>
            <a:ext cx="10137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You are an agent designed to interact with a SQL database.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4750" y="2518271"/>
            <a:ext cx="1013777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Given an input question, create a syntactically correct sqlite query, run it, inspect the results, and return a concise answer. Unless the user asks for a specific number of rows, limit results to at most 10. Never </a:t>
            </a:r>
            <a:r>
              <a:rPr lang="en-US" sz="1200" b="1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SELECT *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— only request the columns you need.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4750" y="3259832"/>
            <a:ext cx="10137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 NOT issue any </a:t>
            </a:r>
            <a:r>
              <a:rPr lang="en-US" sz="1200" b="1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DML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statements (INSERT, UPDATE, DELETE, DROP, etc.).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4750" y="3574752"/>
            <a:ext cx="101377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Always verify table names with </a:t>
            </a:r>
            <a:r>
              <a:rPr lang="en-US" sz="1200" b="1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sql_db_list_tables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and inspect schemas with </a:t>
            </a:r>
            <a:r>
              <a:rPr lang="en-US" sz="1200" b="1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sql_db_schema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before writing a query. Use </a:t>
            </a:r>
            <a:r>
              <a:rPr lang="en-US" sz="1200" b="1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sql_db_query_checker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on any non-trivial query before running it with </a:t>
            </a:r>
            <a:r>
              <a:rPr lang="en-US" sz="1200" b="1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sql_db_query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4750" y="4102993"/>
            <a:ext cx="10137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 multi-step questions, use your todo list to plan the steps before you start querying.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4750" y="4417913"/>
            <a:ext cx="101377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Use </a:t>
            </a:r>
            <a:r>
              <a:rPr lang="en-US" sz="1200" b="1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duckduckgo_search</a:t>
            </a: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only for questions that need outside/current information the database can’t answer. Prefer the SQL tools whenever the question is about the data itself.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4750" y="4946154"/>
            <a:ext cx="101377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Answer in plain language. Do not describe the database schema or the steps you took.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91552" y="6238280"/>
            <a:ext cx="4651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 · MEMORY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via Checkpointer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7776"/>
            <a:ext cx="10560050" cy="1801813"/>
          </a:xfrm>
          <a:prstGeom prst="roundRect">
            <a:avLst>
              <a:gd name="adj" fmla="val 5463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2355751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checkpointer=InMemorySaver()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4750" y="2980432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run_config = {"configurable": {"thread_id": thread_id}}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4750" y="3292773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agent.invoke({"messages": [...]}, config=run_config)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208363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</a:t>
            </a: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thread_id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every turn — the checkpointer replays the full message history, so the agent remembers earlier questions in the conversation.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94727" y="6238280"/>
            <a:ext cx="461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 · ASSEMBLE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create_deep_agent()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7776"/>
            <a:ext cx="10560050" cy="2533650"/>
          </a:xfrm>
          <a:prstGeom prst="roundRect">
            <a:avLst>
              <a:gd name="adj" fmla="val 3885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23557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agent = create_deep_agent(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4750" y="26859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model=llm,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4750" y="30161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tools=tools,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4750" y="33463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system_prompt=INSTRUCTIONS,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4750" y="36765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D68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checkpointer=InMemorySaver(),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4750" y="4006751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6D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940201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create_deep_agent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wraps all four pieces in a LangGraph ReAct loop, with planning and a virtual file system built in — this agent only ever reaches for the four SQL tools above.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916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code walkthrough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90163" y="6238280"/>
            <a:ext cx="4668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9249"/>
            <a:ext cx="32113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WHAT POWERS THIS AGENT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92090"/>
            <a:ext cx="10264616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Reasoning + Acting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628330"/>
            <a:ext cx="983111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behind </a:t>
            </a:r>
            <a:r>
              <a:rPr lang="en-US" sz="1800" b="1" dirty="0">
                <a:solidFill>
                  <a:srgbClr val="E8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create_deep_agent</a:t>
            </a:r>
            <a:r>
              <a:rPr lang="en-US" sz="18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’s loop — and most LLM agents since 2022.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5975" y="4205486"/>
            <a:ext cx="1212949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Thought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59099" y="4343202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75905" y="4205486"/>
            <a:ext cx="1105892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11972" y="4343202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8777" y="4205486"/>
            <a:ext cx="1641078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2A2E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CB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Observation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0030" y="4343202"/>
            <a:ext cx="2374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6836" y="4205486"/>
            <a:ext cx="1105892" cy="559991"/>
          </a:xfrm>
          <a:prstGeom prst="roundRect">
            <a:avLst>
              <a:gd name="adj" fmla="val 17576"/>
            </a:avLst>
          </a:prstGeom>
          <a:solidFill>
            <a:srgbClr val="14161C"/>
          </a:solidFill>
          <a:ln w="6350">
            <a:solidFill>
              <a:srgbClr val="F2B54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884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the ReAct pattern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· ORIGIN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Was Invented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9380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2022-era approaches each got half the job done: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550616"/>
            <a:ext cx="5175250" cy="2450009"/>
          </a:xfrm>
          <a:prstGeom prst="roundRect">
            <a:avLst>
              <a:gd name="adj" fmla="val 4017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80779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Reasoning-only (Chain-of-Thought)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3153172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at step-by-step logic, but frozen in time — no way to look anything up, so it confidently hallucinates facts it can’t know.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2550616"/>
            <a:ext cx="5175250" cy="2450009"/>
          </a:xfrm>
          <a:prstGeom prst="roundRect">
            <a:avLst>
              <a:gd name="adj" fmla="val 4017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80779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Acting-only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7950" y="3153172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call tools, but act impulsively — no visible plan, hard to debug, and errors compound with no reflection.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53086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r>
              <a:rPr lang="en-US" sz="15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(Yao et al., 2022) interleaves both: reasoning steers which action to take next, and each action’s result corrects the reasoning.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2884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the ReAct pattern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17945" y="6238280"/>
            <a:ext cx="4335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 · MECHANICS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Loop Works</a:t>
            </a:r>
            <a:endParaRPr lang="en-US" sz="3600" dirty="0"/>
          </a:p>
        </p:txBody>
      </p:sp>
      <p:pic>
        <p:nvPicPr>
          <p:cNvPr id="4" name="Image 0" descr="Thought, Action, and Observation sit on a circle; arrows run clockwise around it, and Thought can also exit the loop to Answer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812800" y="1892201"/>
            <a:ext cx="10566400" cy="39370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89500" y="2857401"/>
            <a:ext cx="2324100" cy="10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81650" y="2641501"/>
            <a:ext cx="939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info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038475" y="1958876"/>
            <a:ext cx="1898650" cy="189865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546673" y="2542480"/>
            <a:ext cx="8822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270250" y="2847280"/>
            <a:ext cx="14351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what to check next.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37025" y="3863876"/>
            <a:ext cx="1898650" cy="189865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49046" y="4447480"/>
            <a:ext cx="6746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368800" y="4752280"/>
            <a:ext cx="14351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 tool to find out.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939925" y="3863876"/>
            <a:ext cx="1898650" cy="189865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250013" y="4447480"/>
            <a:ext cx="127837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171700" y="4752280"/>
            <a:ext cx="14351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tool’s result comes back.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165975" y="1958876"/>
            <a:ext cx="1898650" cy="1898650"/>
          </a:xfrm>
          <a:prstGeom prst="roundRect">
            <a:avLst>
              <a:gd name="adj" fmla="val 50000"/>
            </a:avLst>
          </a:prstGeom>
          <a:solidFill>
            <a:srgbClr val="1F222B"/>
          </a:solidFill>
          <a:ln w="6350">
            <a:solidFill>
              <a:srgbClr val="F2B5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20380" y="2542480"/>
            <a:ext cx="7897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397750" y="2847280"/>
            <a:ext cx="14351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with no more calls.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2884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the ReAct pattern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998795" y="6238280"/>
            <a:ext cx="4564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 · IN THIS AGENT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Onto the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93801"/>
            <a:ext cx="10566400" cy="3258344"/>
          </a:xfrm>
          <a:custGeom>
            <a:avLst/>
            <a:gdLst/>
            <a:ahLst/>
            <a:cxnLst/>
            <a:rect l="l" t="t" r="r" b="b"/>
            <a:pathLst>
              <a:path w="10566400" h="3258344">
                <a:moveTo>
                  <a:pt x="101600" y="3258344"/>
                </a:moveTo>
                <a:lnTo>
                  <a:pt x="101600" y="3258344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3156744"/>
                </a:lnTo>
                <a:arcTo hR="101600" wR="889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06501"/>
          <a:ext cx="10553700" cy="3245644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step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2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this agent’s trajectory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B"/>
                    </a:solidFill>
                  </a:tcPr>
                </a:tc>
              </a:tr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7C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Thought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folded into the model’s next tool 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2"/>
                    </a:solidFill>
                  </a:tcPr>
                </a:tc>
              </a:tr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7C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FD6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AIMessage(tool_calls=[sql_db_schema(...)])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B"/>
                    </a:solidFill>
                  </a:tcPr>
                </a:tc>
              </a:tr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7C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FD6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ToolMessage(content=&lt;query result&gt;)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2"/>
                    </a:solidFill>
                  </a:tcPr>
                </a:tc>
              </a:tr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7C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6D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LangGraph’s model ↔ tools nodes run again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B"/>
                    </a:solidFill>
                  </a:tcPr>
                </a:tc>
              </a:tr>
              <a:tr h="5409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C7CB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2B5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AIMessage, no tool_calls → trajectory[-1].content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203200" marT="139700" marB="139700" anchor="t">
                    <a:lnL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51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C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55694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above is exactly what the </a:t>
            </a:r>
            <a:r>
              <a:rPr lang="en-US" sz="1400" b="1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trajectory</a:t>
            </a:r>
            <a:r>
              <a:rPr lang="en-US" sz="1400" dirty="0">
                <a:solidFill>
                  <a:srgbClr val="8B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expander in the app shows you, turn by turn.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2884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the ReAct pattern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94926" y="6238280"/>
            <a:ext cx="4611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54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 · PAYOFF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41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5F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96976"/>
            <a:ext cx="5175250" cy="1765300"/>
          </a:xfrm>
          <a:prstGeom prst="roundRect">
            <a:avLst>
              <a:gd name="adj" fmla="val 5576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541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99531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checks the real schema instead of guessing a column name — fewer hallucinated facts.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996976"/>
            <a:ext cx="5175250" cy="1765300"/>
          </a:xfrm>
          <a:prstGeom prst="roundRect">
            <a:avLst>
              <a:gd name="adj" fmla="val 5576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25415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7950" y="2599531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thought, action, and observation is a message you can read — literally the trajectory expander.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4073426"/>
            <a:ext cx="5175250" cy="1765399"/>
          </a:xfrm>
          <a:prstGeom prst="roundRect">
            <a:avLst>
              <a:gd name="adj" fmla="val 5575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433060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3150" y="4675981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 query doesn’t fail silently — the next loop iteration can look again and correct course.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0775" y="4073426"/>
            <a:ext cx="5175250" cy="1765399"/>
          </a:xfrm>
          <a:prstGeom prst="roundRect">
            <a:avLst>
              <a:gd name="adj" fmla="val 5575"/>
            </a:avLst>
          </a:prstGeom>
          <a:solidFill>
            <a:srgbClr val="1F222B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0" y="4330601"/>
            <a:ext cx="48007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FD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7950" y="4675981"/>
            <a:ext cx="4800727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 layer planning and sub-agents on top of this same Thought → Action → Observation core.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884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agents-workshop · the ReAct pattern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92842" y="6238280"/>
            <a:ext cx="4636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1-Deep Agent">
  <a:themeElements>
    <a:clrScheme name="01-Deep Agent">
      <a:dk1>
        <a:srgbClr val="14161C"/>
      </a:dk1>
      <a:lt1>
        <a:srgbClr val="F5F4F0"/>
      </a:lt1>
      <a:dk2>
        <a:srgbClr val="2B2C31"/>
      </a:dk2>
      <a:lt2>
        <a:srgbClr val="BDBDBB"/>
      </a:lt2>
      <a:accent1>
        <a:srgbClr val="5FD68F"/>
      </a:accent1>
      <a:accent2>
        <a:srgbClr val="F2B544"/>
      </a:accent2>
      <a:accent3>
        <a:srgbClr val="5A5F6E"/>
      </a:accent3>
      <a:accent4>
        <a:srgbClr val="C7CBD6"/>
      </a:accent4>
      <a:accent5>
        <a:srgbClr val="8B90A0"/>
      </a:accent5>
      <a:accent6>
        <a:srgbClr val="9AA0A6"/>
      </a:accent6>
      <a:hlink>
        <a:srgbClr val="0563C1"/>
      </a:hlink>
      <a:folHlink>
        <a:srgbClr val="954F72"/>
      </a:folHlink>
    </a:clrScheme>
    <a:fontScheme name="01-Deep Ag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01-Deep Agent</dc:title>
  <dc:subject/>
  <dc:creator/>
  <cp:lastModifiedBy/>
  <cp:revision>1</cp:revision>
  <dcterms:created xsi:type="dcterms:W3CDTF">2026-10-05T10:32:18Z</dcterms:created>
  <dcterms:modified xsi:type="dcterms:W3CDTF">2026-10-05T10:32:18Z</dcterms:modified>
</cp:coreProperties>
</file>